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644C4B"/>
                </a:solidFill>
                <a:latin typeface="Yu Gothic"/>
              </a:rPr>
              <a:t>Aコース はじめの一歩講座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5603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3A3634"/>
                </a:solidFill>
                <a:latin typeface="Yu Gothic"/>
              </a:rPr>
              <a:t>家庭内性教育を「知識 × 日常の関係性」から考える90分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425196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E918F"/>
                </a:solidFill>
                <a:latin typeface="Yu Gothic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44C4B"/>
                </a:solidFill>
                <a:latin typeface="Yu Gothic"/>
              </a:rPr>
              <a:t>今日の90分で目指すこと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3A3634"/>
                </a:solidFill>
                <a:latin typeface="Yu Gothic"/>
              </a:rPr>
              <a:t>正解を覚えるのではなく、自分の家庭の現在地を見つけ、小さな一歩を選びます。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まず、自分の現在地から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家庭内性教育を学ぼうと思ったのは、なぜですか？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普段の親子を思い浮かべる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最近、お子さんとはどんな話をしていますか？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家庭によって現在地は違っていい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相談の頻度や内容だけで、親子関係の良し悪しは決まりません。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44C4B"/>
                </a:solidFill>
                <a:latin typeface="Yu Gothic"/>
              </a:rPr>
              <a:t>家庭内性教育を捉え直す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3A3634"/>
                </a:solidFill>
                <a:latin typeface="Yu Gothic"/>
              </a:rPr>
              <a:t>「性知識を教えること」だけではありません。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644C4B"/>
                </a:solidFill>
                <a:latin typeface="Yu Gothic"/>
              </a:rPr>
              <a:t>家庭内性教育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BE918F"/>
                </a:solidFill>
                <a:latin typeface="Yu Gothic"/>
              </a:rPr>
              <a:t>根拠ある知識  ×  日常の関係性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目指したい関係は？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子どもが本当に困ったとき、どんな関係でありたいですか？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ゴールは「何でも話す親子」ではない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子どもには話さないこと、話したくないこと、プライバシーがあっていい。</a:t>
            </a:r>
            <a:br/>
            <a:r>
              <a:t>目指すのは、困ったときの相談先候補に養育者が残っている関係。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相談先は親だけでなくていい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親以外へ相談することも、子どもが助けを求める大切な力です。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44C4B"/>
                </a:solidFill>
                <a:latin typeface="Yu Gothic"/>
              </a:rPr>
              <a:t>関係性は日常でつくられる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3A3634"/>
                </a:solidFill>
                <a:latin typeface="Yu Gothic"/>
              </a:rPr>
              <a:t>性について話している時間だけが、家庭内性教育ではありません。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日常の小さな関わり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否定から入らない</a:t>
            </a:r>
            <a:br/>
            <a:r>
              <a:t>まず最後まで聴く</a:t>
            </a:r>
            <a:br/>
            <a:r>
              <a:t>子どものYES・NOを尊重する</a:t>
            </a:r>
            <a:br/>
            <a:r>
              <a:t>親自身にもYES・NOがある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バウンダリーは特別な場面だけじゃない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日常の中で、自分と相手の意思や境界を経験していきます。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ケースで考える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10332720" cy="27432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950976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3A3634"/>
                </a:solidFill>
                <a:latin typeface="Yu Gothic"/>
              </a:rPr>
              <a:t>子どもが「今日はそれ、したくない」と言いました。</a:t>
            </a:r>
            <a:br/>
            <a:br/>
            <a:r>
              <a:t>こんなとき、自分なら普段どう反応するだろう？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NOを尊重する ≠ 養育責任を放棄する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子どもの意思を尊重することと、親として必要な判断をすることは両立して考えます。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ここまでの気づき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普段の小さな関わりも、家庭内性教育につながっている。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44C4B"/>
                </a:solidFill>
                <a:latin typeface="Yu Gothic"/>
              </a:rPr>
              <a:t>今度は、養育者自身を見る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3A3634"/>
                </a:solidFill>
                <a:latin typeface="Yu Gothic"/>
              </a:rPr>
              <a:t>子どもに何を教えるかだけでなく、話している自分自身にも背景があります。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振り返り①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子どもの頃、家庭で性や身体について話すことはどんな雰囲気でしたか？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振り返り②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今、自分の子どもから性について質問されたら、どんな気持ちになりそうですか？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振り返り③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今の自分の反応について、何か気づいたことはありますか？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ここでは分析しません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過去の家庭を評価したり、原因を決めたりする時間ではありません。</a:t>
            </a:r>
            <a:br/>
            <a:r>
              <a:t>「自分にも背景がある」と気づくことから、これからを選び直せます。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44C4B"/>
                </a:solidFill>
                <a:latin typeface="Yu Gothic"/>
              </a:rPr>
              <a:t>正しい知識を、子どもに合わせて渡す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3A3634"/>
                </a:solidFill>
                <a:latin typeface="Yu Gothic"/>
              </a:rPr>
              <a:t>変えるのは事実ではなく、届け方。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代表ケース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10332720" cy="27432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950976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3A3634"/>
                </a:solidFill>
                <a:latin typeface="Yu Gothic"/>
              </a:rPr>
              <a:t>「赤ちゃんってどうやってできるの？」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答える前に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この質問に答える前に、まず何を知りたいですか？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知識を届けるプロセス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A3634"/>
                </a:solidFill>
                <a:latin typeface="Yu Gothic"/>
              </a:rPr>
              <a:t>養育者が正しく理解する → 既有知識・疑問を確認する → 発達・理解へ翻訳する → 必要な量を渡す → 反応を見る → 必要なら続きを話す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親が理解しておく科学的骨格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精子と卵子が関わり、受精・子宮への着床を経て妊娠が成立する。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5〜8歳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身体・生殖の基本的事実を、少ない情報量で正確に伝える。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5932170"/>
            <a:ext cx="9509522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Yu Gothic"/>
              </a:rPr>
              <a:t>※ 年齢別の知識一覧ではなく、発達・既有知識・質問意図によって「届ける深度」が変わることを見る例です。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9〜12歳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月経・排卵、精子の産生・射精、生殖機能、精子と卵子の結合、妊娠成立など、仕組みの具体性を増やせる。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5932170"/>
            <a:ext cx="9509522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Yu Gothic"/>
              </a:rPr>
              <a:t>※ 年齢別の知識一覧ではなく、発達・既有知識・質問意図によって「届ける深度」が変わることを見る例です。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12〜15歳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性交・妊娠・避妊・意思決定・関係性・同意などを関連づけて扱える発達段階として考える。</a:t>
            </a:r>
            <a:br/>
            <a:r>
              <a:t>ただし、既有知識・理解度・質問意図に応じて必要な範囲を届ける。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5932170"/>
            <a:ext cx="9509522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Yu Gothic"/>
              </a:rPr>
              <a:t>※ 年齢別の知識一覧ではなく、発達・既有知識・質問意図によって「届ける深度」が変わることを見る例です。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一度ですべて伝えなくていい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分からなければ、ごまかさず「調べてまた話そう」で会話へ戻っていい。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644C4B"/>
                </a:solidFill>
                <a:latin typeface="Yu Gothic"/>
              </a:rPr>
              <a:t>自分の家庭で試す「はじめの一歩」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3A3634"/>
                </a:solidFill>
                <a:latin typeface="Yu Gothic"/>
              </a:rPr>
              <a:t>今日の学びを、自分の家庭へ持ち帰ります。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今日を振り返る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今日、一番印象に残ったことは何でしたか？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918F"/>
                </a:solidFill>
                <a:latin typeface="Yu Gothic"/>
              </a:rPr>
              <a:t>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644C4B"/>
                </a:solidFill>
                <a:latin typeface="Yu Gothic"/>
              </a:rPr>
              <a:t>一つだけ選ぶ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0332720" cy="2286000"/>
          </a:xfrm>
          <a:prstGeom prst="roundRect">
            <a:avLst/>
          </a:prstGeom>
          <a:solidFill>
            <a:srgbClr val="EE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9509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A3634"/>
                </a:solidFill>
                <a:latin typeface="Yu Gothic"/>
              </a:rPr>
              <a:t>今日の学びから、自分の家庭で一つだけ試してみるなら何にしますか？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たとえば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子どもの話を最後まで聴いてみる</a:t>
            </a:r>
            <a:br/>
            <a:r>
              <a:t>子どものNOへの自分の反応を見てみる</a:t>
            </a:r>
            <a:br/>
            <a:r>
              <a:t>自分自身のNOを適切に伝えてみる</a:t>
            </a:r>
            <a:br/>
            <a:r>
              <a:t>質問されたら既有知識を確認してみる</a:t>
            </a:r>
            <a:br/>
            <a:r>
              <a:t>「調べてまた話そう」と伝えてみる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やってみた先に、新しい問いが生まれる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思った反応と違った／うまく言えなかった／どこまで話すか迷った。</a:t>
            </a:r>
            <a:br/>
            <a:r>
              <a:t>それは「足りない証拠」ではなく、実際の家庭だから見えてくる次の学習材料です。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今日から、その先へ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A3634"/>
                </a:solidFill>
                <a:latin typeface="Yu Gothic"/>
              </a:rPr>
              <a:t>今日の学び → 家庭で試す → 子どもと自分の反応を見る → 振り返る → 必要な知識や関わり方を深める → 次の関わりへ修正する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44C4B"/>
                </a:solidFill>
                <a:latin typeface="Yu Gothic"/>
              </a:rPr>
              <a:t>できなくても、失敗ではない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3A3634"/>
                </a:solidFill>
                <a:latin typeface="Yu Gothic"/>
              </a:rPr>
              <a:t>実践できなかったときも「なぜできなかった？」を、今の自分を知る材料として扱えます。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644C4B"/>
                </a:solidFill>
                <a:latin typeface="Yu Gothic"/>
              </a:rPr>
              <a:t>今日のゴール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3A3634"/>
                </a:solidFill>
                <a:latin typeface="Yu Gothic"/>
              </a:rPr>
              <a:t>今日だけでも持ち帰れるものがあった。</a:t>
            </a:r>
            <a:br/>
            <a:r>
              <a:t>まず一つなら、私にもできそう。</a:t>
            </a:r>
            <a:br/>
            <a:r>
              <a:t>実際にやって生まれた問いは、もっと学びたいと思ったときに深めていける。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1722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78706C"/>
                </a:solidFill>
                <a:latin typeface="Yu Gothic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